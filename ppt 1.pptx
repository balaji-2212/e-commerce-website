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8" r:id="rId7"/>
    <p:sldId id="265" r:id="rId8"/>
    <p:sldId id="266" r:id="rId9"/>
    <p:sldId id="262" r:id="rId10"/>
    <p:sldId id="269" r:id="rId11"/>
    <p:sldId id="270" r:id="rId12"/>
  </p:sldIdLst>
  <p:sldSz cx="14630400" cy="8229600"/>
  <p:notesSz cx="8229600" cy="146304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Garamond" panose="02020404030301010803" pitchFamily="18" charset="0"/>
      <p:regular r:id="rId18"/>
      <p:bold r:id="rId19"/>
      <p:italic r:id="rId20"/>
    </p:embeddedFont>
    <p:embeddedFont>
      <p:font typeface="Roboto" panose="02000000000000000000" pitchFamily="2" charset="0"/>
      <p:regular r:id="rId21"/>
    </p:embeddedFont>
    <p:embeddedFont>
      <p:font typeface="Roboto Slab" pitchFamily="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19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E54A-6C11-0DBB-97D5-C5106E40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474A1-90B7-EAD7-8FB8-A7057F0E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691ED-F5E1-BE5D-881F-A1ED68201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D8B6C-1ACF-B5A3-8854-26003D391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10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737361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050" y="2509516"/>
            <a:ext cx="10882303" cy="310896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8640" b="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4520" y="5618475"/>
            <a:ext cx="10885018" cy="54864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920" spc="96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1920"/>
            </a:lvl2pPr>
            <a:lvl3pPr marL="1097280" indent="0" algn="ctr">
              <a:buNone/>
              <a:defRPr sz="192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6382512" y="1609506"/>
            <a:ext cx="1865376" cy="632656"/>
          </a:xfrm>
        </p:spPr>
        <p:txBody>
          <a:bodyPr/>
          <a:lstStyle>
            <a:lvl1pPr algn="ctr">
              <a:defRPr sz="156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744675" y="6253272"/>
            <a:ext cx="7086600" cy="27432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0328304" y="6254496"/>
            <a:ext cx="2534257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65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9427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737360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347" y="2513171"/>
            <a:ext cx="10885018" cy="310530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864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6349" y="5618474"/>
            <a:ext cx="10885018" cy="54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>
                <a:solidFill>
                  <a:schemeClr val="tx1"/>
                </a:solidFill>
                <a:effectLst/>
              </a:defRPr>
            </a:lvl1pPr>
            <a:lvl2pPr marL="5486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86170" y="1613403"/>
            <a:ext cx="1865376" cy="636422"/>
          </a:xfrm>
        </p:spPr>
        <p:txBody>
          <a:bodyPr/>
          <a:lstStyle>
            <a:lvl1pPr algn="ctr">
              <a:defRPr lang="en-US" sz="156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4264" y="6253272"/>
            <a:ext cx="7088429" cy="27432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5405" y="6253272"/>
            <a:ext cx="2534717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55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44384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436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3818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  <a:latin typeface="+mn-lt"/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3818" y="3307078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8042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8042" y="3307897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3718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562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503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94635" y="285293"/>
            <a:ext cx="10237622" cy="76590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8870"/>
            <a:ext cx="2916936" cy="1975104"/>
          </a:xfrm>
        </p:spPr>
        <p:txBody>
          <a:bodyPr anchor="b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6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731520"/>
            <a:ext cx="9326880" cy="640080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6936" cy="420624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2472412" y="7467602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8111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4205"/>
            <a:ext cx="2918765" cy="1975104"/>
          </a:xfrm>
        </p:spPr>
        <p:txBody>
          <a:bodyPr anchor="b">
            <a:noAutofit/>
          </a:bodyPr>
          <a:lstStyle>
            <a:lvl1pPr algn="l">
              <a:defRPr sz="336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319" y="285293"/>
            <a:ext cx="10237622" cy="765901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8765" cy="420258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097280" rtl="0" eaLnBrk="1" latinLnBrk="0" hangingPunct="1">
              <a:defRPr lang="en-US" sz="12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476074" y="7472477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18987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9284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89920" y="914400"/>
            <a:ext cx="2834640" cy="6309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914400"/>
            <a:ext cx="9692640" cy="6309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824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585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169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364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310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67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368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7867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1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1635" y="285293"/>
            <a:ext cx="14067130" cy="765901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771113"/>
            <a:ext cx="1207008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523744"/>
            <a:ext cx="12070080" cy="471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184" y="7569206"/>
            <a:ext cx="3291840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7952" y="7569206"/>
            <a:ext cx="6254496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63856" y="7569206"/>
            <a:ext cx="1755648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5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9" r:id="rId16"/>
    <p:sldLayoutId id="2147483680" r:id="rId17"/>
    <p:sldLayoutId id="2147483682" r:id="rId18"/>
    <p:sldLayoutId id="2147483683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76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19456" indent="-219456" algn="l" defTabSz="1097280" rtl="0" eaLnBrk="1" latinLnBrk="0" hangingPunct="1">
        <a:lnSpc>
          <a:spcPct val="100000"/>
        </a:lnSpc>
        <a:spcBef>
          <a:spcPts val="10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0550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E-Commerce Website Using MERN Stack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64331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Team: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18409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Dudipala Laxmi Prasanna (1608-23-737-031)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Balaji Lakshmipathi (1608-23-737-033)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526565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Gadi Rishanka (1608-23-737-035)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80644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Guide: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Ms. Vijayalaxmi |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Department: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Information Technology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" y="-16256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4985" y="1195754"/>
            <a:ext cx="8182707" cy="4149969"/>
          </a:xfrm>
          <a:prstGeom prst="rect">
            <a:avLst/>
          </a:prstGeom>
          <a:noFill/>
          <a:ln/>
        </p:spPr>
        <p:txBody>
          <a:bodyPr wrap="none" lIns="0" tIns="0" rIns="0" bIns="0" numCol="3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Abstract:</a:t>
            </a:r>
          </a:p>
          <a:p>
            <a:pPr algn="just">
              <a:lnSpc>
                <a:spcPts val="4850"/>
              </a:lnSpc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39307" y="2827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 rot="10800000" flipV="1">
            <a:off x="5747897" y="2187780"/>
            <a:ext cx="8008742" cy="497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1600" dirty="0"/>
              <a:t> 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 applications allow users to buy and sell products online through web platforms.</a:t>
            </a:r>
            <a:r>
              <a:rPr lang="en-IN" sz="2000" dirty="0"/>
              <a:t> </a:t>
            </a:r>
            <a:r>
              <a:rPr lang="en-IN" sz="19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exponential rise in online shopping demands robust, scalable, and secure e-commerce web applications. This project aims to develop a modern e-commerce website using the MERN stack (MongoDB, Express.js, React.js, Node.js). The proposed system uniquely integrates standard product purchasing with innovative features such as a "Shared Cart" for collaborative shopping, a duration-based "Rental System," and a "Smart Budget Mode" that tracks spending and sends intelligent alerts.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308074" y="30133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308074" y="3583781"/>
            <a:ext cx="3536156" cy="26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500"/>
              </a:lnSpc>
              <a:buSzPct val="100000"/>
            </a:pP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956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Basic Idea &amp; Features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164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MERN stack-based e-commerce website integrating: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57262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055620"/>
            <a:ext cx="595313" cy="59531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3219212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148" y="38492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Purchasing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92148" y="4278511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complete buying experience with secure transactions.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414379" y="2857262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737" y="3055620"/>
            <a:ext cx="595313" cy="59531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3219212"/>
            <a:ext cx="267891" cy="2678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2737" y="38492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Shared Cart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612737" y="4278511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Collaborative shopping with group invitations.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793790" y="4992767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48" y="5191125"/>
            <a:ext cx="595313" cy="595313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5859" y="5354717"/>
            <a:ext cx="267891" cy="2678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92148" y="59847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Rental System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992148" y="641401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flexible, duration-based product rental system.</a:t>
            </a:r>
            <a:endParaRPr lang="en-US" sz="1550" dirty="0"/>
          </a:p>
        </p:txBody>
      </p:sp>
      <p:sp>
        <p:nvSpPr>
          <p:cNvPr id="19" name="Shape 11"/>
          <p:cNvSpPr/>
          <p:nvPr/>
        </p:nvSpPr>
        <p:spPr>
          <a:xfrm>
            <a:off x="7414379" y="4992767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737" y="5191125"/>
            <a:ext cx="595313" cy="595313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6448" y="5354717"/>
            <a:ext cx="267891" cy="26789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12737" y="59847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Budget Mode</a:t>
            </a:r>
            <a:endParaRPr lang="en-US" sz="1950" dirty="0"/>
          </a:p>
        </p:txBody>
      </p:sp>
      <p:sp>
        <p:nvSpPr>
          <p:cNvPr id="23" name="Text 13"/>
          <p:cNvSpPr/>
          <p:nvPr/>
        </p:nvSpPr>
        <p:spPr>
          <a:xfrm>
            <a:off x="7612737" y="641401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tracking with intelligent alerts.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94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Definition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0555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Problems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3625929"/>
            <a:ext cx="3536156" cy="2431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shared cart for group shopping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Rental services fragmented across separate platforms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built-in smart budget tracking tools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alerts leading to unintended overspending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308074" y="3055501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a Solution Is Needed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308074" y="3998000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system is required to integrate the following features into a single, scalable platform: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308074" y="5129213"/>
            <a:ext cx="35361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Buying and renting capabilities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Collaborative shopping experience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budget management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7733" y="555586"/>
            <a:ext cx="7211026" cy="445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1225391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1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1756648"/>
            <a:ext cx="843439" cy="1012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6980" y="192524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React.js Frontend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266980" y="2274689"/>
            <a:ext cx="656963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UI handling user interactions and routing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68798"/>
            <a:ext cx="843439" cy="10121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6980" y="293739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Node.js &amp; Express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7266980" y="3286839"/>
            <a:ext cx="656963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 handling requests, authentication, and business logic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80949"/>
            <a:ext cx="843439" cy="10121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6980" y="394954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MongoDB Database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266980" y="4298990"/>
            <a:ext cx="656963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storage for users, products, and orders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280190" y="500812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7753390" y="6112312"/>
            <a:ext cx="3572470" cy="144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71700" lvl="4" indent="-342900">
              <a:lnSpc>
                <a:spcPts val="1950"/>
              </a:lnSpc>
              <a:buSzPct val="100000"/>
              <a:buFont typeface="+mj-lt"/>
              <a:buAutoNum type="arabicPeriod"/>
            </a:pP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271760" y="5682734"/>
            <a:ext cx="255674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0271760" y="6089571"/>
            <a:ext cx="3572470" cy="849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/>
            </a:pPr>
            <a:endParaRPr lang="en-US" sz="13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C85D393-EF68-F0D0-22F5-24D7FC934512}"/>
              </a:ext>
            </a:extLst>
          </p:cNvPr>
          <p:cNvSpPr/>
          <p:nvPr/>
        </p:nvSpPr>
        <p:spPr>
          <a:xfrm>
            <a:off x="6310133" y="707986"/>
            <a:ext cx="7211026" cy="445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and Design:</a:t>
            </a:r>
            <a:endParaRPr lang="en-US" sz="33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F2A5D5B9-01A8-27CE-4BEC-1B161CAD2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6" y="-162560"/>
            <a:ext cx="5486400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A0BC-FB6F-6B5B-E36B-2F68E7E0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84D8A16-64F5-F8E7-EA7E-ADB087378A12}"/>
              </a:ext>
            </a:extLst>
          </p:cNvPr>
          <p:cNvSpPr/>
          <p:nvPr/>
        </p:nvSpPr>
        <p:spPr>
          <a:xfrm>
            <a:off x="6070641" y="641033"/>
            <a:ext cx="8770774" cy="649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Methodology  and   Module-wise </a:t>
            </a:r>
          </a:p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                  Explanation: </a:t>
            </a:r>
          </a:p>
          <a:p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</a:t>
            </a: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Methodology:</a:t>
            </a:r>
          </a:p>
          <a:p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</a:t>
            </a: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project follows:</a:t>
            </a:r>
          </a:p>
          <a:p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   </a:t>
            </a:r>
          </a:p>
          <a:p>
            <a:r>
              <a:rPr lang="en-US" sz="1300" dirty="0">
                <a:solidFill>
                  <a:srgbClr val="3257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</a:t>
            </a: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Requirement Analysis</a:t>
            </a:r>
          </a:p>
          <a:p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2. UI Design</a:t>
            </a:r>
          </a:p>
          <a:p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3. Database Design</a:t>
            </a:r>
          </a:p>
          <a:p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4. Backend Development</a:t>
            </a:r>
          </a:p>
          <a:p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5. Testing</a:t>
            </a:r>
          </a:p>
          <a:p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400" dirty="0">
                <a:solidFill>
                  <a:srgbClr val="3257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</a:t>
            </a: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en-IN" sz="1400" dirty="0">
                <a:solidFill>
                  <a:srgbClr val="3257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Deployment</a:t>
            </a:r>
          </a:p>
          <a:p>
            <a:endParaRPr lang="en-US" sz="1300" dirty="0">
              <a:solidFill>
                <a:srgbClr val="3257B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E2C0AFC-D73E-D12C-C0BA-B5A4C8290B3D}"/>
              </a:ext>
            </a:extLst>
          </p:cNvPr>
          <p:cNvSpPr/>
          <p:nvPr/>
        </p:nvSpPr>
        <p:spPr>
          <a:xfrm>
            <a:off x="6280190" y="500812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Working Process</a:t>
            </a:r>
            <a:endParaRPr lang="en-US" sz="19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F114AD8-7229-E865-D7A4-78C68B153A5B}"/>
              </a:ext>
            </a:extLst>
          </p:cNvPr>
          <p:cNvSpPr/>
          <p:nvPr/>
        </p:nvSpPr>
        <p:spPr>
          <a:xfrm>
            <a:off x="6280190" y="5682734"/>
            <a:ext cx="259984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1: User Engagement</a:t>
            </a:r>
            <a:endParaRPr lang="en-US" sz="16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4C882213-8BCD-911F-B71E-2FBEC5F85972}"/>
              </a:ext>
            </a:extLst>
          </p:cNvPr>
          <p:cNvSpPr/>
          <p:nvPr/>
        </p:nvSpPr>
        <p:spPr>
          <a:xfrm>
            <a:off x="6280190" y="6089571"/>
            <a:ext cx="3572470" cy="144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registration and login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token authentication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Browsing and searching products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Adding to cart or shared cart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Selection: Buy or Rent</a:t>
            </a:r>
            <a:endParaRPr lang="en-US" sz="13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DA4881C-D786-4E58-599F-01F8CFC3CA92}"/>
              </a:ext>
            </a:extLst>
          </p:cNvPr>
          <p:cNvSpPr/>
          <p:nvPr/>
        </p:nvSpPr>
        <p:spPr>
          <a:xfrm>
            <a:off x="10271760" y="5682734"/>
            <a:ext cx="255674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2: Order Processing</a:t>
            </a:r>
            <a:endParaRPr lang="en-US" sz="16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F4E0EE0-632B-E5E7-4C52-BE4BDC426194}"/>
              </a:ext>
            </a:extLst>
          </p:cNvPr>
          <p:cNvSpPr/>
          <p:nvPr/>
        </p:nvSpPr>
        <p:spPr>
          <a:xfrm>
            <a:off x="10271760" y="6089571"/>
            <a:ext cx="3572470" cy="849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check and alerts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processing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persistence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C723DCD-1FF8-778E-AFAA-956D43592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40" y="516731"/>
            <a:ext cx="5486400" cy="719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88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75" y="-85725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144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Tools &amp; Technologies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1989177"/>
            <a:ext cx="7556421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992148" y="2187535"/>
            <a:ext cx="29675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Programming Languages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2616756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HTML5, CSS3, JavaScript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3331012"/>
            <a:ext cx="7556421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992148" y="3529370"/>
            <a:ext cx="28093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Libraries &amp; Frameworks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92148" y="3958590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React.js, Node.js, Express.js, Mongoose, JWT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672846"/>
            <a:ext cx="7556421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992148" y="48712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Software Tools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2148" y="5300424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Code, Postman, MongoDB Atlas, GitHub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93790" y="6014680"/>
            <a:ext cx="7556421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992148" y="6213038"/>
            <a:ext cx="28590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Hardware Requirements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92148" y="6642259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4GB RAM (minimum), Windows/Linux OS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3306"/>
            <a:ext cx="43809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 Progress and Demonstration: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490317"/>
            <a:ext cx="13042821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4" name="Shape 2"/>
          <p:cNvSpPr/>
          <p:nvPr/>
        </p:nvSpPr>
        <p:spPr>
          <a:xfrm>
            <a:off x="3343275" y="3014067"/>
            <a:ext cx="22860" cy="47625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3176111" y="331172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3235643" y="334148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362319" y="148340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1: Research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2500" y="1807607"/>
            <a:ext cx="4804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review, requirement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3486" y="3490317"/>
            <a:ext cx="22860" cy="47625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0" name="Shape 8"/>
          <p:cNvSpPr/>
          <p:nvPr/>
        </p:nvSpPr>
        <p:spPr>
          <a:xfrm>
            <a:off x="5816322" y="331172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5875853" y="334148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002649" y="412539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2: Design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92711" y="4449604"/>
            <a:ext cx="48045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design, database schema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23816" y="3014067"/>
            <a:ext cx="22860" cy="47625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6652" y="331172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8516183" y="334148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475696" y="1483400"/>
            <a:ext cx="231909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3: Implementation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33041" y="1807607"/>
            <a:ext cx="4804529" cy="10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API development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development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cart &amp; rental module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budget logic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264146" y="3490317"/>
            <a:ext cx="22860" cy="47625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96982" y="331172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6513" y="334148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0283309" y="412539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4: Testing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73371" y="4449604"/>
            <a:ext cx="4804529" cy="10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testing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testing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 fixing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96484" y="6556415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3790" y="6524625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3790" y="7267575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286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Database/Dataset Design:</a:t>
            </a:r>
          </a:p>
          <a:p>
            <a:pPr>
              <a:lnSpc>
                <a:spcPts val="4150"/>
              </a:lnSpc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database is hosted on MongoDB Atlas, providing scalable and document-based cloud storage</a:t>
            </a:r>
            <a:r>
              <a:rPr lang="en-IN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ts val="4150"/>
              </a:lnSpc>
            </a:pPr>
            <a:endParaRPr lang="en-IN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Collections Used:</a:t>
            </a:r>
          </a:p>
          <a:p>
            <a:endParaRPr lang="en-IN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Users: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Stores user profile details, email, password, and authentication information.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Products</a:t>
            </a:r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Contains product name, category, pricing, stock availability, and product images.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Carts: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Stores items added to cart, quantity, and shared cart access between users.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Orders</a:t>
            </a:r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Maintains order history, payment details, and order status.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Budgets</a:t>
            </a:r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Tracks user spending limits and smart budget alerts.</a:t>
            </a:r>
          </a:p>
          <a:p>
            <a:pPr>
              <a:lnSpc>
                <a:spcPts val="4150"/>
              </a:lnSpc>
            </a:pPr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4150"/>
              </a:lnSpc>
            </a:pPr>
            <a:endParaRPr lang="en-US" sz="33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5064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005643" y="2231350"/>
            <a:ext cx="583096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021437" y="437899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24" name="Text 15"/>
          <p:cNvSpPr/>
          <p:nvPr/>
        </p:nvSpPr>
        <p:spPr>
          <a:xfrm>
            <a:off x="1021437" y="4998958"/>
            <a:ext cx="298977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D52743-627C-4906-D864-291D82F1FAC8}"/>
              </a:ext>
            </a:extLst>
          </p:cNvPr>
          <p:cNvSpPr txBox="1"/>
          <p:nvPr/>
        </p:nvSpPr>
        <p:spPr>
          <a:xfrm>
            <a:off x="819150" y="723900"/>
            <a:ext cx="100965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US" sz="330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Results,Outputs</a:t>
            </a: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and Analysis</a:t>
            </a:r>
            <a:endParaRPr lang="en-US" sz="3300" dirty="0"/>
          </a:p>
          <a:p>
            <a:pPr>
              <a:buNone/>
            </a:pPr>
            <a:endParaRPr lang="en-IN" sz="3300" dirty="0"/>
          </a:p>
          <a:p>
            <a:pPr>
              <a:buNone/>
            </a:pPr>
            <a:r>
              <a:rPr lang="en-I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Successfully developed a responsive e-commerce website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 can easily browse and purchase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Cart and checkout system works efficiently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None/>
            </a:pPr>
            <a:r>
              <a:rPr lang="en-I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Faster shopping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User-friendly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Better product organization 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None/>
            </a:pPr>
            <a:r>
              <a:rPr lang="en-I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  <a:p>
            <a:pPr>
              <a:buNone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system improves: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Shopping convenience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 accessibility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Budget-friendly shopping experience</a:t>
            </a:r>
          </a:p>
        </p:txBody>
      </p:sp>
    </p:spTree>
    <p:extLst>
      <p:ext uri="{BB962C8B-B14F-4D97-AF65-F5344CB8AC3E}">
        <p14:creationId xmlns:p14="http://schemas.microsoft.com/office/powerpoint/2010/main" val="310985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BC2939-EF06-9DF0-CA07-A6D374EED69B}"/>
              </a:ext>
            </a:extLst>
          </p:cNvPr>
          <p:cNvSpPr txBox="1"/>
          <p:nvPr/>
        </p:nvSpPr>
        <p:spPr>
          <a:xfrm>
            <a:off x="742950" y="476250"/>
            <a:ext cx="10229850" cy="659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Faced and Solutions:</a:t>
            </a:r>
          </a:p>
          <a:p>
            <a:pPr marL="0" indent="0" algn="l">
              <a:lnSpc>
                <a:spcPts val="4850"/>
              </a:lnSpc>
              <a:buNone/>
            </a:pPr>
            <a:endParaRPr lang="en-US" sz="33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en-IN" sz="2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 1: Real-Time Synchronization for Shared Carts.</a:t>
            </a:r>
            <a:r>
              <a:rPr lang="en-IN" sz="2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Solution:</a:t>
            </a: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Implementing </a:t>
            </a:r>
            <a:r>
              <a:rPr lang="en-IN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WebSockets</a:t>
            </a: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(e.g., Socket.io) alongside standard REST APIs to              ensure that when one user adds an item to a shared cart, it instantly reflects on the screens of all invited group members.</a:t>
            </a:r>
          </a:p>
          <a:p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 2: Complex Checkout Logic (Mixing Rentals and Purchases).</a:t>
            </a:r>
            <a:endParaRPr lang="en-IN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Solution:</a:t>
            </a: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Restructuring the database schema and cart logic to clearly flag items as type: 'buy' or type: 'rent', ensuring duration calculations only apply to rental items during the final checkout calculation.</a:t>
            </a:r>
          </a:p>
          <a:p>
            <a:pPr lvl="1"/>
            <a:endParaRPr lang="en-I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2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 3: Implementing Intelligent Budget Alerts without Degrading Performance.</a:t>
            </a:r>
            <a:endParaRPr lang="en-IN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Solution:</a:t>
            </a:r>
            <a:r>
              <a:rPr lang="en-I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Handling budget calculations asynchronously on the backend before the final checkout step, ensuring the frontend UI remains responsive while the server verifies limits against the database.</a:t>
            </a:r>
          </a:p>
          <a:p>
            <a:pPr marL="0" indent="0" algn="l">
              <a:lnSpc>
                <a:spcPts val="4850"/>
              </a:lnSpc>
              <a:buNone/>
            </a:pP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987882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145</TotalTime>
  <Words>785</Words>
  <Application>Microsoft Office PowerPoint</Application>
  <PresentationFormat>Custom</PresentationFormat>
  <Paragraphs>147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</vt:lpstr>
      <vt:lpstr>Arial</vt:lpstr>
      <vt:lpstr>Garamond</vt:lpstr>
      <vt:lpstr>Century Gothic</vt:lpstr>
      <vt:lpstr>Roboto Slab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BALAJI LAKSHMIPATHI</dc:creator>
  <cp:lastModifiedBy>Laxmi Prasanna Dudipala</cp:lastModifiedBy>
  <cp:revision>8</cp:revision>
  <dcterms:created xsi:type="dcterms:W3CDTF">2026-03-11T14:49:01Z</dcterms:created>
  <dcterms:modified xsi:type="dcterms:W3CDTF">2026-06-10T03:21:06Z</dcterms:modified>
</cp:coreProperties>
</file>