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371600"/>
            <a:ext cx="9448495" cy="41148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2011680"/>
            <a:ext cx="85340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6B6D4"/>
                </a:solidFill>
                <a:latin typeface="Orbitron"/>
              </a:defRPr>
            </a:pPr>
            <a:r>
              <a:t>VENTURE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3474720"/>
            <a:ext cx="3962095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3840480"/>
            <a:ext cx="85340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F1F5F9"/>
                </a:solidFill>
                <a:latin typeface="Space Grotesk"/>
              </a:defRPr>
            </a:pPr>
            <a:r>
              <a:t>A 3D-Enabled Collaborative E-Commerce &amp; Rental Platform</a:t>
            </a:r>
            <a:br/>
            <a:r>
              <a:t>React 19 • WebGL Shaders • Zustand Shared State Store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011680"/>
            <a:ext cx="137160" cy="28346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Orbitron"/>
              </a:defRPr>
            </a:pPr>
            <a:r>
              <a:t>SECTION 01</a:t>
            </a:r>
          </a:p>
          <a:p>
            <a:pPr>
              <a:spcBef>
                <a:spcPts val="1000"/>
              </a:spcBef>
              <a:defRPr sz="4000" b="1">
                <a:solidFill>
                  <a:srgbClr val="06B6D4"/>
                </a:solidFill>
                <a:latin typeface="Orbitron"/>
              </a:defRPr>
            </a:pPr>
            <a:r>
              <a:t>Abstract &amp; Problem Definition</a:t>
            </a:r>
          </a:p>
          <a:p>
            <a:pPr>
              <a:spcBef>
                <a:spcPts val="2000"/>
              </a:spcBef>
              <a:defRPr sz="1600">
                <a:solidFill>
                  <a:srgbClr val="94A3B8"/>
                </a:solidFill>
                <a:latin typeface="Space Grotesk"/>
              </a:defRPr>
            </a:pPr>
            <a:r>
              <a:t>Establishing the core objectives, detailing the e-commerce design constraints, and presenting the proposed 3D solution.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Orbitron"/>
              </a:defRPr>
            </a:pPr>
            <a:r>
              <a:t>1. ABSTRACT &amp; PROBLEM DEFINITION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06B6D4"/>
                </a:solidFill>
                <a:latin typeface="Orbitron"/>
              </a:defRPr>
            </a:pPr>
            <a:r>
              <a:t>Abstract &amp;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500">
                <a:solidFill>
                  <a:srgbClr val="F1F5F9"/>
                </a:solidFill>
                <a:latin typeface="Space Grotesk"/>
              </a:defRPr>
            </a:pPr>
            <a:r>
              <a:t>Standard e-commerce architectures present products in flat static media and operate within isolated shopping sessions.</a:t>
            </a:r>
            <a:br/>
            <a:br/>
            <a:r>
              <a:t>Venture introduces a responsive, unified client workspace. Users inspect items in rotatable 3D WebGL canvases, add items with rental flags, invite friends to join collaborative rooms, and monitor projected totals against a strict Zustand spending store.</a:t>
            </a:r>
            <a:br/>
            <a:br/>
            <a:r>
              <a:t>This project bridges premium interactive interfaces, real-time sync, and financial awareness in a single, high-performance portal.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82880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600" b="1">
                <a:solidFill>
                  <a:srgbClr val="06B6D4"/>
                </a:solidFill>
                <a:latin typeface="Orbitron"/>
              </a:defRPr>
            </a:pPr>
            <a:r>
              <a:t>Core Project Features: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300">
                <a:solidFill>
                  <a:srgbClr val="F1F5F9"/>
                </a:solidFill>
                <a:latin typeface="Space Grotesk"/>
              </a:defRPr>
            </a:pPr>
            <a:r>
              <a:t>•  Interactive WebGL: Renders dynamic, responsive shapes using React Three Fiber canvas overlays.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300">
                <a:solidFill>
                  <a:srgbClr val="F1F5F9"/>
                </a:solidFill>
                <a:latin typeface="Space Grotesk"/>
              </a:defRPr>
            </a:pPr>
            <a:r>
              <a:t>•  Buy or Rent: Integrates customizable pricing configurations based on monthly duration inputs.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300">
                <a:solidFill>
                  <a:srgbClr val="F1F5F9"/>
                </a:solidFill>
                <a:latin typeface="Space Grotesk"/>
              </a:defRPr>
            </a:pPr>
            <a:r>
              <a:t>•  Shared Shopping: Enables WebSocket cart sync for collaborative group checkout flows.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300">
                <a:solidFill>
                  <a:srgbClr val="F1F5F9"/>
                </a:solidFill>
                <a:latin typeface="Space Grotesk"/>
              </a:defRPr>
            </a:pPr>
            <a:r>
              <a:t>•  Financial Safety: Tracks expenses in memory with automatic threshold toast popups.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Orbitron"/>
              </a:defRPr>
            </a:pPr>
            <a:r>
              <a:t>1. ABSTRACT &amp; PROBLEM DEFINITION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06B6D4"/>
                </a:solidFill>
                <a:latin typeface="Orbitron"/>
              </a:defRPr>
            </a:pPr>
            <a:r>
              <a:t>Problem Definition &amp; Comparative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500">
                <a:solidFill>
                  <a:srgbClr val="F1F5F9"/>
                </a:solidFill>
                <a:latin typeface="Space Grotesk"/>
              </a:defRPr>
            </a:pPr>
            <a:r>
              <a:t>Legacy shopping frameworks create friction points that hurt conversion rates and user engagement:</a:t>
            </a:r>
            <a:br/>
            <a:br/>
            <a:r>
              <a:t>• High Return Rates: 2D static images fail to provide depth perception, leading to buyer mismatches.</a:t>
            </a:r>
            <a:br/>
            <a:r>
              <a:t>• Segmented Portals: Purchasing and rental systems are segregated, requiring separate apps and transactions.</a:t>
            </a:r>
            <a:br/>
            <a:r>
              <a:t>• Silent Overspending: Lack of real-time warning indicators results in unexpected checkout cart shocks.</a:t>
            </a:r>
            <a:br/>
            <a:r>
              <a:t>• Siloed Sessions: Social shopping requires tedious external link sharing and manual group calculations.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82880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600" b="1">
                <a:solidFill>
                  <a:srgbClr val="06B6D4"/>
                </a:solidFill>
                <a:latin typeface="Orbitron"/>
              </a:defRPr>
            </a:pPr>
            <a:r>
              <a:t>Venture Innovation Vector: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300">
                <a:solidFill>
                  <a:srgbClr val="F1F5F9"/>
                </a:solidFill>
                <a:latin typeface="Space Grotesk"/>
              </a:defRPr>
            </a:pPr>
            <a:r>
              <a:t>•  Rotatable 3D Viewport: Decreases returns by supporting free-angle model manipulation in-browser.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300">
                <a:solidFill>
                  <a:srgbClr val="F1F5F9"/>
                </a:solidFill>
                <a:latin typeface="Space Grotesk"/>
              </a:defRPr>
            </a:pPr>
            <a:r>
              <a:t>•  Unified Transaction: Consolidates rent and buy options directly within the product grid layout.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300">
                <a:solidFill>
                  <a:srgbClr val="F1F5F9"/>
                </a:solidFill>
                <a:latin typeface="Space Grotesk"/>
              </a:defRPr>
            </a:pPr>
            <a:r>
              <a:t>•  Proactive Guardrails: Displays warning banners at 80% and 100% of defined budget limits.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300">
                <a:solidFill>
                  <a:srgbClr val="F1F5F9"/>
                </a:solidFill>
                <a:latin typeface="Space Grotesk"/>
              </a:defRPr>
            </a:pPr>
            <a:r>
              <a:t>•  Live Room Synchronization: Features instant, shared room cart lists via invite codes.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Orbitron"/>
              </a:defRPr>
            </a:pPr>
            <a:r>
              <a:t>1. ABSTRACT &amp; PROBLEM DEFINITION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06B6D4"/>
                </a:solidFill>
                <a:latin typeface="Orbitron"/>
              </a:defRPr>
            </a:pPr>
            <a:r>
              <a:t>Basic Idea &amp; Architectural Features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42255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4693615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6B6D4"/>
                </a:solidFill>
                <a:latin typeface="Orbitron"/>
              </a:defRPr>
            </a:pPr>
            <a:r>
              <a:t>3D Canvas Viewport</a:t>
            </a:r>
          </a:p>
          <a:p>
            <a:pPr>
              <a:lnSpc>
                <a:spcPct val="120000"/>
              </a:lnSpc>
              <a:defRPr sz="1200">
                <a:solidFill>
                  <a:srgbClr val="F1F5F9"/>
                </a:solidFill>
                <a:latin typeface="Space Grotesk"/>
              </a:defRPr>
            </a:pPr>
            <a:r>
              <a:t>Uses Canvas layers, RoundedBox geometries, and spot light meshes to create smooth spatial preview cards. Background3D spawns 1,500 upward climbing particles.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42255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828800"/>
            <a:ext cx="4693615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6B6D4"/>
                </a:solidFill>
                <a:latin typeface="Orbitron"/>
              </a:defRPr>
            </a:pPr>
            <a:r>
              <a:t>Dual Checkout catalog</a:t>
            </a:r>
          </a:p>
          <a:p>
            <a:pPr>
              <a:lnSpc>
                <a:spcPct val="120000"/>
              </a:lnSpc>
              <a:defRPr sz="1200">
                <a:solidFill>
                  <a:srgbClr val="F1F5F9"/>
                </a:solidFill>
                <a:latin typeface="Space Grotesk"/>
              </a:defRPr>
            </a:pPr>
            <a:r>
              <a:t>Maintains Buy and Rent controls on every item. Employs AI recommendation analysis (tagging items above ₹1,000 as optimal for rentals).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23360"/>
            <a:ext cx="5242255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206240"/>
            <a:ext cx="4693615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6B6D4"/>
                </a:solidFill>
                <a:latin typeface="Orbitron"/>
              </a:defRPr>
            </a:pPr>
            <a:r>
              <a:t>Collaborative Shared Cart</a:t>
            </a:r>
          </a:p>
          <a:p>
            <a:pPr>
              <a:lnSpc>
                <a:spcPct val="120000"/>
              </a:lnSpc>
              <a:defRPr sz="1200">
                <a:solidFill>
                  <a:srgbClr val="F1F5F9"/>
                </a:solidFill>
                <a:latin typeface="Space Grotesk"/>
              </a:defRPr>
            </a:pPr>
            <a:r>
              <a:t>Syncs room ids (e.g. 'cart-x789') with initials avatars for Alice &amp; Bob. Allows manual and contact invitation dispatches.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023360"/>
            <a:ext cx="5242255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4206240"/>
            <a:ext cx="4693615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6B6D4"/>
                </a:solidFill>
                <a:latin typeface="Orbitron"/>
              </a:defRPr>
            </a:pPr>
            <a:r>
              <a:t>Smart Budget Manager</a:t>
            </a:r>
          </a:p>
          <a:p>
            <a:pPr>
              <a:lnSpc>
                <a:spcPct val="120000"/>
              </a:lnSpc>
              <a:defRPr sz="1200">
                <a:solidFill>
                  <a:srgbClr val="F1F5F9"/>
                </a:solidFill>
                <a:latin typeface="Space Grotesk"/>
              </a:defRPr>
            </a:pPr>
            <a:r>
              <a:t>Features reactive limit fields. Compares total spent against user limit, warning at 80% and blocking checkout at 100% capacity.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011680"/>
            <a:ext cx="137160" cy="28346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Orbitron"/>
              </a:defRPr>
            </a:pPr>
            <a:r>
              <a:t>SECTION 02</a:t>
            </a:r>
          </a:p>
          <a:p>
            <a:pPr>
              <a:spcBef>
                <a:spcPts val="1000"/>
              </a:spcBef>
              <a:defRPr sz="4000" b="1">
                <a:solidFill>
                  <a:srgbClr val="06B6D4"/>
                </a:solidFill>
                <a:latin typeface="Orbitron"/>
              </a:defRPr>
            </a:pPr>
            <a:r>
              <a:t>System Architecture &amp; Design</a:t>
            </a:r>
          </a:p>
          <a:p>
            <a:pPr>
              <a:spcBef>
                <a:spcPts val="2000"/>
              </a:spcBef>
              <a:defRPr sz="1600">
                <a:solidFill>
                  <a:srgbClr val="94A3B8"/>
                </a:solidFill>
                <a:latin typeface="Space Grotesk"/>
              </a:defRPr>
            </a:pPr>
            <a:r>
              <a:t>Detailing the decoupled layout layers, design typography, responsive variables, and the client-side state store.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Orbitron"/>
              </a:defRPr>
            </a:pPr>
            <a:r>
              <a:t>2. SYSTEM ARCHITECTURE &amp;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06B6D4"/>
                </a:solidFill>
                <a:latin typeface="Orbitron"/>
              </a:defRPr>
            </a:pPr>
            <a:r>
              <a:t>High-Level Client Architecture 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2194560" cy="3474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182880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1000"/>
              </a:spcAft>
              <a:defRPr sz="1400" b="1">
                <a:solidFill>
                  <a:srgbClr val="06B6D4"/>
                </a:solidFill>
                <a:latin typeface="Orbitron"/>
              </a:defRPr>
            </a:pPr>
            <a:r>
              <a:t>WebGL UI Layer</a:t>
            </a:r>
          </a:p>
          <a:p>
            <a:pPr algn="ctr">
              <a:lnSpc>
                <a:spcPct val="125000"/>
              </a:lnSpc>
              <a:defRPr sz="1100">
                <a:solidFill>
                  <a:srgbClr val="F1F5F9"/>
                </a:solidFill>
                <a:latin typeface="Space Grotesk"/>
              </a:defRPr>
            </a:pPr>
            <a:r>
              <a:t>Renders Canvas components, GlowCube materials, and Glassmorphic buttons inside reactive page wrappers.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017520" y="3566160"/>
            <a:ext cx="365760" cy="274320"/>
          </a:xfrm>
          <a:prstGeom prst="right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474720" y="2011680"/>
            <a:ext cx="2194560" cy="3474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2194560"/>
            <a:ext cx="182880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1000"/>
              </a:spcAft>
              <a:defRPr sz="1400" b="1">
                <a:solidFill>
                  <a:srgbClr val="06B6D4"/>
                </a:solidFill>
                <a:latin typeface="Orbitron"/>
              </a:defRPr>
            </a:pPr>
            <a:r>
              <a:t>Zustand State Store</a:t>
            </a:r>
          </a:p>
          <a:p>
            <a:pPr algn="ctr">
              <a:lnSpc>
                <a:spcPct val="125000"/>
              </a:lnSpc>
              <a:defRPr sz="1100">
                <a:solidFill>
                  <a:srgbClr val="F1F5F9"/>
                </a:solidFill>
                <a:latin typeface="Space Grotesk"/>
              </a:defRPr>
            </a:pPr>
            <a:r>
              <a:t>Maintains theme config, cart array, wishlist logs, budgetLimit, totalExpenses, and active collaborator lists in memory.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760720" y="3566160"/>
            <a:ext cx="365760" cy="274320"/>
          </a:xfrm>
          <a:prstGeom prst="right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2011680"/>
            <a:ext cx="2194560" cy="3474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194560"/>
            <a:ext cx="182880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1000"/>
              </a:spcAft>
              <a:defRPr sz="1400" b="1">
                <a:solidFill>
                  <a:srgbClr val="06B6D4"/>
                </a:solidFill>
                <a:latin typeface="Orbitron"/>
              </a:defRPr>
            </a:pPr>
            <a:r>
              <a:t>Transaction Validator</a:t>
            </a:r>
          </a:p>
          <a:p>
            <a:pPr algn="ctr">
              <a:lnSpc>
                <a:spcPct val="125000"/>
              </a:lnSpc>
              <a:defRPr sz="1100">
                <a:solidFill>
                  <a:srgbClr val="F1F5F9"/>
                </a:solidFill>
                <a:latin typeface="Space Grotesk"/>
              </a:defRPr>
            </a:pPr>
            <a:r>
              <a:t>Checks checkout values against the budget limit. Prompts users with green rental recommendations if values breach limits.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8503920" y="3566160"/>
            <a:ext cx="365760" cy="274320"/>
          </a:xfrm>
          <a:prstGeom prst="right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961120" y="2011680"/>
            <a:ext cx="2194560" cy="3474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0" y="2194560"/>
            <a:ext cx="182880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1000"/>
              </a:spcAft>
              <a:defRPr sz="1400" b="1">
                <a:solidFill>
                  <a:srgbClr val="06B6D4"/>
                </a:solidFill>
                <a:latin typeface="Orbitron"/>
              </a:defRPr>
            </a:pPr>
            <a:r>
              <a:t>WhatsApp Dispatcher</a:t>
            </a:r>
          </a:p>
          <a:p>
            <a:pPr algn="ctr">
              <a:lnSpc>
                <a:spcPct val="125000"/>
              </a:lnSpc>
              <a:defRPr sz="1100">
                <a:solidFill>
                  <a:srgbClr val="F1F5F9"/>
                </a:solidFill>
                <a:latin typeface="Space Grotesk"/>
              </a:defRPr>
            </a:pPr>
            <a:r>
              <a:t>Constructs structured invoices and passes them via window.open() using target wa.me text APIs.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Orbitron"/>
              </a:defRPr>
            </a:pPr>
            <a:r>
              <a:t>2. SYSTEM ARCHITECTURE &amp;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06B6D4"/>
                </a:solidFill>
                <a:latin typeface="Orbitron"/>
              </a:defRPr>
            </a:pPr>
            <a:r>
              <a:t>UI/UX Design System &amp; Theme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500">
                <a:solidFill>
                  <a:srgbClr val="F1F5F9"/>
                </a:solidFill>
                <a:latin typeface="Space Grotesk"/>
              </a:defRPr>
            </a:pPr>
            <a:r>
              <a:t>Venture's layout implements premium glassmorphic styling, responsive layouts, and distinct typography:</a:t>
            </a:r>
            <a:br/>
            <a:br/>
            <a:r>
              <a:t>• Header Typography: Renders titles, buttons, and numeric statistics using the 'Orbitron' font family.</a:t>
            </a:r>
            <a:br/>
            <a:r>
              <a:t>• Body Typography: Displays explanations, item descriptions, and form inputs using 'Space Grotesk'.</a:t>
            </a:r>
            <a:br/>
            <a:r>
              <a:t>• Glassmorphic Panels: Applies frosted cards with semi-transparent backgrounds and thin boundaries to create visual layers.</a:t>
            </a:r>
            <a:br/>
            <a:r>
              <a:t>• Theme Toggle: Toggles the '.light-mode' CSS class on the document body to transition variables seamlessly.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82880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600" b="1">
                <a:solidFill>
                  <a:srgbClr val="06B6D4"/>
                </a:solidFill>
                <a:latin typeface="Orbitron"/>
              </a:defRPr>
            </a:pPr>
            <a:r>
              <a:t>Color Palette System Configuration: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300">
                <a:solidFill>
                  <a:srgbClr val="F1F5F9"/>
                </a:solidFill>
                <a:latin typeface="Space Grotesk"/>
              </a:defRPr>
            </a:pPr>
            <a:r>
              <a:t>•  Primary Dark Base: Slate-900 (RGB 15, 23, 42) background for high contrast.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300">
                <a:solidFill>
                  <a:srgbClr val="F1F5F9"/>
                </a:solidFill>
                <a:latin typeface="Space Grotesk"/>
              </a:defRPr>
            </a:pPr>
            <a:r>
              <a:t>•  Card Wrapper Fill: Slate-800 (RGB 30, 41, 59) surface color.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300">
                <a:solidFill>
                  <a:srgbClr val="F1F5F9"/>
                </a:solidFill>
                <a:latin typeface="Space Grotesk"/>
              </a:defRPr>
            </a:pPr>
            <a:r>
              <a:t>•  Cyber Cyan Accent: RGB 6, 182, 212 (#00f0ff) for futuristic glows.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300">
                <a:solidFill>
                  <a:srgbClr val="F1F5F9"/>
                </a:solidFill>
                <a:latin typeface="Space Grotesk"/>
              </a:defRPr>
            </a:pPr>
            <a:r>
              <a:t>•  Emerald Green Accent: RGB 16, 185, 129 for budget status codes.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300">
                <a:solidFill>
                  <a:srgbClr val="F1F5F9"/>
                </a:solidFill>
                <a:latin typeface="Space Grotesk"/>
              </a:defRPr>
            </a:pPr>
            <a:r>
              <a:t>•  Flipkart Blue: Swap accent used during light mode configurations.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011680"/>
            <a:ext cx="137160" cy="28346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Orbitron"/>
              </a:defRPr>
            </a:pPr>
            <a:r>
              <a:t>SECTION 03</a:t>
            </a:r>
          </a:p>
          <a:p>
            <a:pPr>
              <a:spcBef>
                <a:spcPts val="1000"/>
              </a:spcBef>
              <a:defRPr sz="4000" b="1">
                <a:solidFill>
                  <a:srgbClr val="06B6D4"/>
                </a:solidFill>
                <a:latin typeface="Orbitron"/>
              </a:defRPr>
            </a:pPr>
            <a:r>
              <a:t>Methodology &amp; Module Breakdown</a:t>
            </a:r>
          </a:p>
          <a:p>
            <a:pPr>
              <a:spcBef>
                <a:spcPts val="2000"/>
              </a:spcBef>
              <a:defRPr sz="1600">
                <a:solidFill>
                  <a:srgbClr val="94A3B8"/>
                </a:solidFill>
                <a:latin typeface="Space Grotesk"/>
              </a:defRPr>
            </a:pPr>
            <a:r>
              <a:t>Step-by-step technical analysis of the 3D particles, Buy vs Rent features, shared websocket cart, and budget tracking.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Orbitron"/>
              </a:defRPr>
            </a:pPr>
            <a:r>
              <a:t>3. METHODOLOGY &amp; MODULES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06B6D4"/>
                </a:solidFill>
                <a:latin typeface="Orbitron"/>
              </a:defRPr>
            </a:pPr>
            <a:r>
              <a:t>3D Product Canvas &amp; Anti-Gravity Shaders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500">
                <a:solidFill>
                  <a:srgbClr val="F1F5F9"/>
                </a:solidFill>
                <a:latin typeface="Space Grotesk"/>
              </a:defRPr>
            </a:pPr>
            <a:r>
              <a:t>The application utilizes hardware-accelerated rendering directly in the DOM to showcase products:</a:t>
            </a:r>
            <a:br/>
            <a:br/>
            <a:r>
              <a:t>• GlowCube Component: A custom React Three Fiber RoundedBox mesh styled with spot lighting, OrbitControls, and high-intensity emissive materials (#00f0ff).</a:t>
            </a:r>
            <a:br/>
            <a:br/>
            <a:r>
              <a:t>• Anti-Gravity particles: Background3D mounts a Canvas spawning 1,500 individual particles. Position arrays are initialized using useMemo hooks for maximum frame rates.</a:t>
            </a:r>
            <a:br/>
            <a:br/>
            <a:r>
              <a:t>• Frame Updates: The useFrame loop moves positions upwards along the Y-axis. When a particle exits the viewport boundaries, its coordinate resets to the bottom.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82880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600" b="1">
                <a:solidFill>
                  <a:srgbClr val="06B6D4"/>
                </a:solidFill>
                <a:latin typeface="Orbitron"/>
              </a:defRPr>
            </a:pPr>
            <a:r>
              <a:t>WebGL Core Rendering Attributes: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300">
                <a:solidFill>
                  <a:srgbClr val="F1F5F9"/>
                </a:solidFill>
                <a:latin typeface="Space Grotesk"/>
              </a:defRPr>
            </a:pPr>
            <a:r>
              <a:t>•  Additive Blending: Merges overlapping particle glows on the screen.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300">
                <a:solidFill>
                  <a:srgbClr val="F1F5F9"/>
                </a:solidFill>
                <a:latin typeface="Space Grotesk"/>
              </a:defRPr>
            </a:pPr>
            <a:r>
              <a:t>•  DepthWrite False: Prevents visual clipping artifacts between particle shapes.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300">
                <a:solidFill>
                  <a:srgbClr val="F1F5F9"/>
                </a:solidFill>
                <a:latin typeface="Space Grotesk"/>
              </a:defRPr>
            </a:pPr>
            <a:r>
              <a:t>•  Size Attenuation: Adjusts particle size based on virtual camera distance.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300">
                <a:solidFill>
                  <a:srgbClr val="F1F5F9"/>
                </a:solidFill>
                <a:latin typeface="Space Grotesk"/>
              </a:defRPr>
            </a:pPr>
            <a:r>
              <a:t>•  Adaptive Fog: Automatically shifts fog color from dark (#000) to light (#f1f3f6) on theme updates.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300">
                <a:solidFill>
                  <a:srgbClr val="F1F5F9"/>
                </a:solidFill>
                <a:latin typeface="Space Grotesk"/>
              </a:defRPr>
            </a:pPr>
            <a:r>
              <a:t>•  Auto-Rotation: Rotates the camera matrix at 0.05 speed to create ambient movement.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Orbitron"/>
              </a:defRPr>
            </a:pPr>
            <a:r>
              <a:t>3. METHODOLOGY &amp; MODULES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06B6D4"/>
                </a:solidFill>
                <a:latin typeface="Orbitron"/>
              </a:defRPr>
            </a:pPr>
            <a:r>
              <a:t>Buy vs Rent Catalog &amp; AI Nudges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42255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4693615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6B6D4"/>
                </a:solidFill>
                <a:latin typeface="Orbitron"/>
              </a:defRPr>
            </a:pPr>
            <a:r>
              <a:t>Structured Product List</a:t>
            </a:r>
          </a:p>
          <a:p>
            <a:pPr>
              <a:lnSpc>
                <a:spcPct val="120000"/>
              </a:lnSpc>
              <a:defRPr sz="1200">
                <a:solidFill>
                  <a:srgbClr val="F1F5F9"/>
                </a:solidFill>
                <a:latin typeface="Space Grotesk"/>
              </a:defRPr>
            </a:pPr>
            <a:r>
              <a:t>Shop.jsx features items (Apple Vision Pro, Segway Ninebot, AirPods Max, DJI Drones) with price, rentPrice, and image parameters.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42255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828800"/>
            <a:ext cx="4693615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6B6D4"/>
                </a:solidFill>
                <a:latin typeface="Orbitron"/>
              </a:defRPr>
            </a:pPr>
            <a:r>
              <a:t>AI Recommendation Rules</a:t>
            </a:r>
          </a:p>
          <a:p>
            <a:pPr>
              <a:lnSpc>
                <a:spcPct val="120000"/>
              </a:lnSpc>
              <a:defRPr sz="1200">
                <a:solidFill>
                  <a:srgbClr val="F1F5F9"/>
                </a:solidFill>
                <a:latin typeface="Space Grotesk"/>
              </a:defRPr>
            </a:pPr>
            <a:r>
              <a:t>Evaluates item cost: if price exceeds ₹1,000, card displays 'AI Analysis: Optimal for short-term rental'. Otherwise, advises outright purchase.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23360"/>
            <a:ext cx="5242255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206240"/>
            <a:ext cx="4693615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6B6D4"/>
                </a:solidFill>
                <a:latin typeface="Orbitron"/>
              </a:defRPr>
            </a:pPr>
            <a:r>
              <a:t>Interactive Hover Tilts</a:t>
            </a:r>
          </a:p>
          <a:p>
            <a:pPr>
              <a:lnSpc>
                <a:spcPct val="120000"/>
              </a:lnSpc>
              <a:defRPr sz="1200">
                <a:solidFill>
                  <a:srgbClr val="F1F5F9"/>
                </a:solidFill>
                <a:latin typeface="Space Grotesk"/>
              </a:defRPr>
            </a:pPr>
            <a:r>
              <a:t>Cards leverage Framer Motion spring properties. Hovering triggers a 15-degree Y-rotation and 5-degree X-rotation scale warp.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023360"/>
            <a:ext cx="5242255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4206240"/>
            <a:ext cx="4693615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6B6D4"/>
                </a:solidFill>
                <a:latin typeface="Orbitron"/>
              </a:defRPr>
            </a:pPr>
            <a:r>
              <a:t>Cart Actions Dispatch</a:t>
            </a:r>
          </a:p>
          <a:p>
            <a:pPr>
              <a:lnSpc>
                <a:spcPct val="120000"/>
              </a:lnSpc>
              <a:defRPr sz="1200">
                <a:solidFill>
                  <a:srgbClr val="F1F5F9"/>
                </a:solidFill>
                <a:latin typeface="Space Grotesk"/>
              </a:defRPr>
            </a:pPr>
            <a:r>
              <a:t>Coordinates state actions: Buy dispatch triggers isRental=false, while Rent buttons inject duration parameters to the cart array.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Orbitron"/>
              </a:defRPr>
            </a:pPr>
            <a:r>
              <a:t>3. METHODOLOGY &amp; MODULES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06B6D4"/>
                </a:solidFill>
                <a:latin typeface="Orbitron"/>
              </a:defRPr>
            </a:pPr>
            <a:r>
              <a:t>Real-Time Shared Cart Collaboration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500">
                <a:solidFill>
                  <a:srgbClr val="F1F5F9"/>
                </a:solidFill>
                <a:latin typeface="Space Grotesk"/>
              </a:defRPr>
            </a:pPr>
            <a:r>
              <a:t>Venture implements shared shopping experiences through the cart interface:</a:t>
            </a:r>
            <a:br/>
            <a:br/>
            <a:r>
              <a:t>• Session Binding: Connects users to room key ('cart-x789') to join cart updates.</a:t>
            </a:r>
            <a:br/>
            <a:br/>
            <a:r>
              <a:t>• Active Collaborator Headers: Maps active users (Alice and Bob) using initials avatars (A, B) and prints the active room population count.</a:t>
            </a:r>
            <a:br/>
            <a:br/>
            <a:r>
              <a:t>• Invite Dispatch Form: Allows typing custom emails/phones or choosing mock contacts (Diana Prince, Charlie Brown) to launch invites.</a:t>
            </a:r>
            <a:br/>
            <a:br/>
            <a:r>
              <a:t>• Real-Time Toasts: Triggers toast alerts whenever items are added or removed to keep all participants informed.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82880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600" b="1">
                <a:solidFill>
                  <a:srgbClr val="06B6D4"/>
                </a:solidFill>
                <a:latin typeface="Orbitron"/>
              </a:defRPr>
            </a:pPr>
            <a:r>
              <a:t>Collaborative Cart Mechanics: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300">
                <a:solidFill>
                  <a:srgbClr val="F1F5F9"/>
                </a:solidFill>
                <a:latin typeface="Space Grotesk"/>
              </a:defRPr>
            </a:pPr>
            <a:r>
              <a:t>•  Unique Session Code: Enables shared shopping rooms without complex setups.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300">
                <a:solidFill>
                  <a:srgbClr val="F1F5F9"/>
                </a:solidFill>
                <a:latin typeface="Space Grotesk"/>
              </a:defRPr>
            </a:pPr>
            <a:r>
              <a:t>•  Split Payment Mode: Checkbox triggers split billing UI panels.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300">
                <a:solidFill>
                  <a:srgbClr val="F1F5F9"/>
                </a:solidFill>
                <a:latin typeface="Space Grotesk"/>
              </a:defRPr>
            </a:pPr>
            <a:r>
              <a:t>•  Dynamic Math: Computes user's direct 1/3 share of cart total.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300">
                <a:solidFill>
                  <a:srgbClr val="F1F5F9"/>
                </a:solidFill>
                <a:latin typeface="Space Grotesk"/>
              </a:defRPr>
            </a:pPr>
            <a:r>
              <a:t>•  Action Synchronization: Updates are shared with all active room members.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Orbitron"/>
              </a:defRPr>
            </a:pPr>
            <a:r>
              <a:t>3. METHODOLOGY &amp; MODULES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06B6D4"/>
                </a:solidFill>
                <a:latin typeface="Orbitron"/>
              </a:defRPr>
            </a:pPr>
            <a:r>
              <a:t>Smart Budget Tracking &amp; Threshold Warnings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500">
                <a:solidFill>
                  <a:srgbClr val="F1F5F9"/>
                </a:solidFill>
                <a:latin typeface="Space Grotesk"/>
              </a:defRPr>
            </a:pPr>
            <a:r>
              <a:t>To prevent checkout cart shock, the Cart interface monitors spending limits programmatically:</a:t>
            </a:r>
            <a:br/>
            <a:br/>
            <a:r>
              <a:t>• Zustand Limit Keys: Store holds budgetLimit (default ₹5,00,000) and totalExpenses (default ₹4,25,000).</a:t>
            </a:r>
            <a:br/>
            <a:br/>
            <a:r>
              <a:t>• Cost Projection Bar: Cart view computes projected totals (Spent + Current Order/Share) and renders a visual progress bar.</a:t>
            </a:r>
            <a:br/>
            <a:br/>
            <a:r>
              <a:t>• Interactive Configuration: Dashboard provides fields to change limits, delete transactions, or add custom external expenses.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82880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600" b="1">
                <a:solidFill>
                  <a:srgbClr val="06B6D4"/>
                </a:solidFill>
                <a:latin typeface="Orbitron"/>
              </a:defRPr>
            </a:pPr>
            <a:r>
              <a:t>Intelligent Budget Alerts &amp; Rules: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300">
                <a:solidFill>
                  <a:srgbClr val="F1F5F9"/>
                </a:solidFill>
                <a:latin typeface="Space Grotesk"/>
              </a:defRPr>
            </a:pPr>
            <a:r>
              <a:t>•  80% Warning: Alerts at 80% capacity ('⚠️ BUDGET WARNING').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300">
                <a:solidFill>
                  <a:srgbClr val="F1F5F9"/>
                </a:solidFill>
                <a:latin typeface="Space Grotesk"/>
              </a:defRPr>
            </a:pPr>
            <a:r>
              <a:t>•  100% Limit: Alerts at 100% capacity ('🚨 BUDGET EXCEEDED').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300">
                <a:solidFill>
                  <a:srgbClr val="F1F5F9"/>
                </a:solidFill>
                <a:latin typeface="Space Grotesk"/>
              </a:defRPr>
            </a:pPr>
            <a:r>
              <a:t>•  Smart Advice: Suggests renting instead of buying if limit breached.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300">
                <a:solidFill>
                  <a:srgbClr val="F1F5F9"/>
                </a:solidFill>
                <a:latin typeface="Space Grotesk"/>
              </a:defRPr>
            </a:pPr>
            <a:r>
              <a:t>•  Real-Time: Computes cart total dynamically as items change.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300">
                <a:solidFill>
                  <a:srgbClr val="F1F5F9"/>
                </a:solidFill>
                <a:latin typeface="Space Grotesk"/>
              </a:defRPr>
            </a:pPr>
            <a:r>
              <a:t>•  Visual Bar: Shifts progress bar from green-to-blue to orange-to-red.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300">
                <a:solidFill>
                  <a:srgbClr val="F1F5F9"/>
                </a:solidFill>
                <a:latin typeface="Space Grotesk"/>
              </a:defRPr>
            </a:pPr>
            <a:r>
              <a:t>•  External Logs: Supports manual external item entries.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011680"/>
            <a:ext cx="137160" cy="28346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Orbitron"/>
              </a:defRPr>
            </a:pPr>
            <a:r>
              <a:t>SECTION 04</a:t>
            </a:r>
          </a:p>
          <a:p>
            <a:pPr>
              <a:spcBef>
                <a:spcPts val="1000"/>
              </a:spcBef>
              <a:defRPr sz="4000" b="1">
                <a:solidFill>
                  <a:srgbClr val="06B6D4"/>
                </a:solidFill>
                <a:latin typeface="Orbitron"/>
              </a:defRPr>
            </a:pPr>
            <a:r>
              <a:t>Technologies &amp; Data Schemas</a:t>
            </a:r>
          </a:p>
          <a:p>
            <a:pPr>
              <a:spcBef>
                <a:spcPts val="2000"/>
              </a:spcBef>
              <a:defRPr sz="1600">
                <a:solidFill>
                  <a:srgbClr val="94A3B8"/>
                </a:solidFill>
                <a:latin typeface="Space Grotesk"/>
              </a:defRPr>
            </a:pPr>
            <a:r>
              <a:t>Reviewing the developer dependencies, build tools, database models, and client state fields.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Orbitron"/>
              </a:defRPr>
            </a:pPr>
            <a:r>
              <a:t>4. TECHNOLOGIES &amp; DATA SCHEMAS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06B6D4"/>
                </a:solidFill>
                <a:latin typeface="Orbitron"/>
              </a:defRPr>
            </a:pPr>
            <a:r>
              <a:t>Development Stack &amp; Tooling Matrix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42255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4693615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6B6D4"/>
                </a:solidFill>
                <a:latin typeface="Orbitron"/>
              </a:defRPr>
            </a:pPr>
            <a:r>
              <a:t>React 19 &amp; Vite</a:t>
            </a:r>
          </a:p>
          <a:p>
            <a:pPr>
              <a:lnSpc>
                <a:spcPct val="120000"/>
              </a:lnSpc>
              <a:defRPr sz="1200">
                <a:solidFill>
                  <a:srgbClr val="F1F5F9"/>
                </a:solidFill>
                <a:latin typeface="Space Grotesk"/>
              </a:defRPr>
            </a:pPr>
            <a:r>
              <a:t>Utilizes React 19 SPA framework alongside Vite builder for fast compilation, asset bundling, and clean client-side routing.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42255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828800"/>
            <a:ext cx="4693615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6B6D4"/>
                </a:solidFill>
                <a:latin typeface="Orbitron"/>
              </a:defRPr>
            </a:pPr>
            <a:r>
              <a:t>Zustand v5 Store</a:t>
            </a:r>
          </a:p>
          <a:p>
            <a:pPr>
              <a:lnSpc>
                <a:spcPct val="120000"/>
              </a:lnSpc>
              <a:defRPr sz="1200">
                <a:solidFill>
                  <a:srgbClr val="F1F5F9"/>
                </a:solidFill>
                <a:latin typeface="Space Grotesk"/>
              </a:defRPr>
            </a:pPr>
            <a:r>
              <a:t>Coordinates local storage states (theme toggles, cart array, wishlist logs, budget limit variables) in centralized memory.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23360"/>
            <a:ext cx="5242255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206240"/>
            <a:ext cx="4693615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6B6D4"/>
                </a:solidFill>
                <a:latin typeface="Orbitron"/>
              </a:defRPr>
            </a:pPr>
            <a:r>
              <a:t>WebGL 3D Engines</a:t>
            </a:r>
          </a:p>
          <a:p>
            <a:pPr>
              <a:lnSpc>
                <a:spcPct val="120000"/>
              </a:lnSpc>
              <a:defRPr sz="1200">
                <a:solidFill>
                  <a:srgbClr val="F1F5F9"/>
                </a:solidFill>
                <a:latin typeface="Space Grotesk"/>
              </a:defRPr>
            </a:pPr>
            <a:r>
              <a:t>Combines Three.js, React Three Fiber, and Drei libraries to load canvas frames, custom rounded box shapes, and particle backdrops.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023360"/>
            <a:ext cx="5242255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4206240"/>
            <a:ext cx="4693615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6B6D4"/>
                </a:solidFill>
                <a:latin typeface="Orbitron"/>
              </a:defRPr>
            </a:pPr>
            <a:r>
              <a:t>Framer Motion &amp; Lucide</a:t>
            </a:r>
          </a:p>
          <a:p>
            <a:pPr>
              <a:lnSpc>
                <a:spcPct val="120000"/>
              </a:lnSpc>
              <a:defRPr sz="1200">
                <a:solidFill>
                  <a:srgbClr val="F1F5F9"/>
                </a:solidFill>
                <a:latin typeface="Space Grotesk"/>
              </a:defRPr>
            </a:pPr>
            <a:r>
              <a:t>Implements fluid spring transitions, fade-in animations, and standard modern UI icon sets on buttons and panels.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Orbitron"/>
              </a:defRPr>
            </a:pPr>
            <a:r>
              <a:t>4. TECHNOLOGIES &amp; DATA SCHEMAS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06B6D4"/>
                </a:solidFill>
                <a:latin typeface="Orbitron"/>
              </a:defRPr>
            </a:pPr>
            <a:r>
              <a:t>State &amp; Mock Database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500">
                <a:solidFill>
                  <a:srgbClr val="F1F5F9"/>
                </a:solidFill>
                <a:latin typeface="Space Grotesk"/>
              </a:defRPr>
            </a:pPr>
            <a:r>
              <a:t>Data structures are organized to facilitate quick updates inside the Zustand store:</a:t>
            </a:r>
            <a:br/>
            <a:br/>
            <a:r>
              <a:t>• Mock Products Schema: Configured with properties: id, name, price, rentPrice, rating, category (Electronics, Mobility, Audio, Gaming, Groceries), color, and image URL.</a:t>
            </a:r>
            <a:br/>
            <a:br/>
            <a:r>
              <a:t>• Zustand Store State Model:</a:t>
            </a:r>
            <a:br/>
            <a:r>
              <a:t>  - theme: string ('light' or 'dark')</a:t>
            </a:r>
            <a:br/>
            <a:r>
              <a:t>  - cart: array containing objects (id, product, isRental, duration)</a:t>
            </a:r>
            <a:br/>
            <a:r>
              <a:t>  - wishlist: array of product objects</a:t>
            </a:r>
            <a:br/>
            <a:r>
              <a:t>  - budgetLimit: number (limit flag)</a:t>
            </a:r>
            <a:br/>
            <a:r>
              <a:t>  - totalExpenses: number (accrued expenses)</a:t>
            </a:r>
            <a:br/>
            <a:r>
              <a:t>  - expensesHistory: array (id, name, amount, type, date)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82880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600" b="1">
                <a:solidFill>
                  <a:srgbClr val="06B6D4"/>
                </a:solidFill>
                <a:latin typeface="Orbitron"/>
              </a:defRPr>
            </a:pPr>
            <a:r>
              <a:t>Store Actions &amp; Mutators: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300">
                <a:solidFill>
                  <a:srgbClr val="F1F5F9"/>
                </a:solidFill>
                <a:latin typeface="Space Grotesk"/>
              </a:defRPr>
            </a:pPr>
            <a:r>
              <a:t>•  toggleTheme(): Swaps body styling class names.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300">
                <a:solidFill>
                  <a:srgbClr val="F1F5F9"/>
                </a:solidFill>
                <a:latin typeface="Space Grotesk"/>
              </a:defRPr>
            </a:pPr>
            <a:r>
              <a:t>•  addToCart(): Adds items to cart array with toast alerts.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300">
                <a:solidFill>
                  <a:srgbClr val="F1F5F9"/>
                </a:solidFill>
                <a:latin typeface="Space Grotesk"/>
              </a:defRPr>
            </a:pPr>
            <a:r>
              <a:t>•  removeFromCart(): Filters out selected items by ID.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300">
                <a:solidFill>
                  <a:srgbClr val="F1F5F9"/>
                </a:solidFill>
                <a:latin typeface="Space Grotesk"/>
              </a:defRPr>
            </a:pPr>
            <a:r>
              <a:t>•  addExpense(): Appends items to history and checks limit thresholds.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011680"/>
            <a:ext cx="137160" cy="28346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Orbitron"/>
              </a:defRPr>
            </a:pPr>
            <a:r>
              <a:t>SECTION 05</a:t>
            </a:r>
          </a:p>
          <a:p>
            <a:pPr>
              <a:spcBef>
                <a:spcPts val="1000"/>
              </a:spcBef>
              <a:defRPr sz="4000" b="1">
                <a:solidFill>
                  <a:srgbClr val="06B6D4"/>
                </a:solidFill>
                <a:latin typeface="Orbitron"/>
              </a:defRPr>
            </a:pPr>
            <a:r>
              <a:t>Implementation, Results &amp; Analysis</a:t>
            </a:r>
          </a:p>
          <a:p>
            <a:pPr>
              <a:spcBef>
                <a:spcPts val="2000"/>
              </a:spcBef>
              <a:defRPr sz="1600">
                <a:solidFill>
                  <a:srgbClr val="94A3B8"/>
                </a:solidFill>
                <a:latin typeface="Space Grotesk"/>
              </a:defRPr>
            </a:pPr>
            <a:r>
              <a:t>Detailing build roadmaps, WhatsApp checkout verification, challenge solutions, and future scopes.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Orbitron"/>
              </a:defRPr>
            </a:pPr>
            <a:r>
              <a:t>5. IMPLEMENTATION &amp;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06B6D4"/>
                </a:solidFill>
                <a:latin typeface="Orbitron"/>
              </a:defRPr>
            </a:pPr>
            <a:r>
              <a:t>Development Milestones &amp; WhatsApp Checkout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2926080"/>
            <a:ext cx="9448495" cy="36576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691640" y="2651760"/>
            <a:ext cx="548640" cy="548640"/>
          </a:xfrm>
          <a:prstGeom prst="ellipse">
            <a:avLst/>
          </a:prstGeom>
          <a:solidFill>
            <a:srgbClr val="0F172A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6B6D4"/>
                </a:solidFill>
                <a:latin typeface="Orbitron"/>
              </a:defRPr>
            </a:pPr>
            <a:r>
              <a:t>01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474720"/>
            <a:ext cx="2377440" cy="2560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657600"/>
            <a:ext cx="201168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800"/>
              </a:spcAft>
              <a:defRPr sz="1300" b="1">
                <a:solidFill>
                  <a:srgbClr val="10B981"/>
                </a:solidFill>
                <a:latin typeface="Orbitron"/>
              </a:defRPr>
            </a:pPr>
            <a:r>
              <a:t>Core Setup</a:t>
            </a:r>
          </a:p>
          <a:p>
            <a:pPr algn="ctr">
              <a:lnSpc>
                <a:spcPct val="120000"/>
              </a:lnSpc>
              <a:defRPr sz="1100">
                <a:solidFill>
                  <a:srgbClr val="F1F5F9"/>
                </a:solidFill>
                <a:latin typeface="Space Grotesk"/>
              </a:defRPr>
            </a:pPr>
            <a:r>
              <a:t>Initializes Vite React project. Installs WebGL packages and Zustand store.</a:t>
            </a:r>
          </a:p>
        </p:txBody>
      </p:sp>
      <p:sp>
        <p:nvSpPr>
          <p:cNvPr id="8" name="Oval 7"/>
          <p:cNvSpPr/>
          <p:nvPr/>
        </p:nvSpPr>
        <p:spPr>
          <a:xfrm>
            <a:off x="4434840" y="2651760"/>
            <a:ext cx="548640" cy="548640"/>
          </a:xfrm>
          <a:prstGeom prst="ellipse">
            <a:avLst/>
          </a:prstGeom>
          <a:solidFill>
            <a:srgbClr val="0F172A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6B6D4"/>
                </a:solidFill>
                <a:latin typeface="Orbitron"/>
              </a:defRPr>
            </a:pPr>
            <a:r>
              <a:t>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3474720"/>
            <a:ext cx="2377440" cy="2560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3657600"/>
            <a:ext cx="201168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800"/>
              </a:spcAft>
              <a:defRPr sz="1300" b="1">
                <a:solidFill>
                  <a:srgbClr val="10B981"/>
                </a:solidFill>
                <a:latin typeface="Orbitron"/>
              </a:defRPr>
            </a:pPr>
            <a:r>
              <a:t>Layout &amp; 3D Canvas</a:t>
            </a:r>
          </a:p>
          <a:p>
            <a:pPr algn="ctr">
              <a:lnSpc>
                <a:spcPct val="120000"/>
              </a:lnSpc>
              <a:defRPr sz="1100">
                <a:solidFill>
                  <a:srgbClr val="F1F5F9"/>
                </a:solidFill>
                <a:latin typeface="Space Grotesk"/>
              </a:defRPr>
            </a:pPr>
            <a:r>
              <a:t>Codes Anti-Gravity particles backdrop and styles glassmorphic panels.</a:t>
            </a:r>
          </a:p>
        </p:txBody>
      </p:sp>
      <p:sp>
        <p:nvSpPr>
          <p:cNvPr id="11" name="Oval 10"/>
          <p:cNvSpPr/>
          <p:nvPr/>
        </p:nvSpPr>
        <p:spPr>
          <a:xfrm>
            <a:off x="7178040" y="2651760"/>
            <a:ext cx="548640" cy="548640"/>
          </a:xfrm>
          <a:prstGeom prst="ellipse">
            <a:avLst/>
          </a:prstGeom>
          <a:solidFill>
            <a:srgbClr val="0F172A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6B6D4"/>
                </a:solidFill>
                <a:latin typeface="Orbitron"/>
              </a:defRPr>
            </a:pPr>
            <a:r>
              <a:t>03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474720"/>
            <a:ext cx="2377440" cy="2560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3657600"/>
            <a:ext cx="201168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800"/>
              </a:spcAft>
              <a:defRPr sz="1300" b="1">
                <a:solidFill>
                  <a:srgbClr val="10B981"/>
                </a:solidFill>
                <a:latin typeface="Orbitron"/>
              </a:defRPr>
            </a:pPr>
            <a:r>
              <a:t>Zustand Logic Sync</a:t>
            </a:r>
          </a:p>
          <a:p>
            <a:pPr algn="ctr">
              <a:lnSpc>
                <a:spcPct val="120000"/>
              </a:lnSpc>
              <a:defRPr sz="1100">
                <a:solidFill>
                  <a:srgbClr val="F1F5F9"/>
                </a:solidFill>
                <a:latin typeface="Space Grotesk"/>
              </a:defRPr>
            </a:pPr>
            <a:r>
              <a:t>Connects store mutators, budget check progress bars, and split math.</a:t>
            </a:r>
          </a:p>
        </p:txBody>
      </p:sp>
      <p:sp>
        <p:nvSpPr>
          <p:cNvPr id="14" name="Oval 13"/>
          <p:cNvSpPr/>
          <p:nvPr/>
        </p:nvSpPr>
        <p:spPr>
          <a:xfrm>
            <a:off x="9921240" y="2651760"/>
            <a:ext cx="548640" cy="548640"/>
          </a:xfrm>
          <a:prstGeom prst="ellipse">
            <a:avLst/>
          </a:prstGeom>
          <a:solidFill>
            <a:srgbClr val="0F172A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6B6D4"/>
                </a:solidFill>
                <a:latin typeface="Orbitron"/>
              </a:defRPr>
            </a:pPr>
            <a:r>
              <a:t>04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0" y="3474720"/>
            <a:ext cx="2377440" cy="2560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0" y="3657600"/>
            <a:ext cx="201168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800"/>
              </a:spcAft>
              <a:defRPr sz="1300" b="1">
                <a:solidFill>
                  <a:srgbClr val="10B981"/>
                </a:solidFill>
                <a:latin typeface="Orbitron"/>
              </a:defRPr>
            </a:pPr>
            <a:r>
              <a:t>WhatsApp Checkout</a:t>
            </a:r>
          </a:p>
          <a:p>
            <a:pPr algn="ctr">
              <a:lnSpc>
                <a:spcPct val="120000"/>
              </a:lnSpc>
              <a:defRPr sz="1100">
                <a:solidFill>
                  <a:srgbClr val="F1F5F9"/>
                </a:solidFill>
                <a:latin typeface="Space Grotesk"/>
              </a:defRPr>
            </a:pPr>
            <a:r>
              <a:t>Compiles order receipt, opens WA send link, logs expenses, and clears cart.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